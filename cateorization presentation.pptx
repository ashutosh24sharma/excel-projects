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  <p:sldMasterId id="2147483869" r:id="rId2"/>
    <p:sldMasterId id="2147483881" r:id="rId3"/>
  </p:sldMasterIdLst>
  <p:sldIdLst>
    <p:sldId id="256" r:id="rId4"/>
    <p:sldId id="261" r:id="rId5"/>
    <p:sldId id="263" r:id="rId6"/>
    <p:sldId id="257" r:id="rId7"/>
    <p:sldId id="259" r:id="rId8"/>
    <p:sldId id="260" r:id="rId9"/>
    <p:sldId id="258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hu9\Desktop\Categorization\final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hu9\Desktop\Categorization\final%20Repor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Categorization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Aspirants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 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236</c:v>
                </c:pt>
                <c:pt idx="1">
                  <c:v>25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19</c:v>
                </c:pt>
                <c:pt idx="6">
                  <c:v>30</c:v>
                </c:pt>
                <c:pt idx="7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93-4C72-AA83-5FFEA7105C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Performer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 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818</c:v>
                </c:pt>
                <c:pt idx="1">
                  <c:v>318</c:v>
                </c:pt>
                <c:pt idx="2">
                  <c:v>26</c:v>
                </c:pt>
                <c:pt idx="3">
                  <c:v>1412</c:v>
                </c:pt>
                <c:pt idx="4">
                  <c:v>1933</c:v>
                </c:pt>
                <c:pt idx="5">
                  <c:v>82</c:v>
                </c:pt>
                <c:pt idx="6">
                  <c:v>0</c:v>
                </c:pt>
                <c:pt idx="7">
                  <c:v>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93-4C72-AA83-5FFEA7105C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Front Runner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 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1562</c:v>
                </c:pt>
                <c:pt idx="1">
                  <c:v>2273</c:v>
                </c:pt>
                <c:pt idx="2">
                  <c:v>2588</c:v>
                </c:pt>
                <c:pt idx="3">
                  <c:v>1204</c:v>
                </c:pt>
                <c:pt idx="4">
                  <c:v>683</c:v>
                </c:pt>
                <c:pt idx="5">
                  <c:v>2515</c:v>
                </c:pt>
                <c:pt idx="6">
                  <c:v>2586</c:v>
                </c:pt>
                <c:pt idx="7">
                  <c:v>1705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93-4C72-AA83-5FFEA7105C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02170159"/>
        <c:axId val="402168719"/>
      </c:barChart>
      <c:catAx>
        <c:axId val="402170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2168719"/>
        <c:crosses val="autoZero"/>
        <c:auto val="1"/>
        <c:lblAlgn val="ctr"/>
        <c:lblOffset val="100"/>
        <c:noMultiLvlLbl val="0"/>
      </c:catAx>
      <c:valAx>
        <c:axId val="402168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217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3481846015323684"/>
          <c:y val="3.0962548911333876E-2"/>
          <c:w val="0.34246814005656395"/>
          <c:h val="6.36598108865720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797046067399172E-2"/>
          <c:y val="0.13706770888491507"/>
          <c:w val="0.94772708295471852"/>
          <c:h val="0.716512679100344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Monitoring_Data_Percentages!$B$1</c:f>
              <c:strCache>
                <c:ptCount val="1"/>
                <c:pt idx="0">
                  <c:v>Aspirants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Monitoring_Data_Percentages!$A$2:$A$9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Monitoring_Data_Percentages!$B$2:$B$9</c:f>
              <c:numCache>
                <c:formatCode>0%</c:formatCode>
                <c:ptCount val="8"/>
                <c:pt idx="0">
                  <c:v>0.09</c:v>
                </c:pt>
                <c:pt idx="1">
                  <c:v>0.01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0.01</c:v>
                </c:pt>
                <c:pt idx="6">
                  <c:v>0.01</c:v>
                </c:pt>
                <c:pt idx="7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AD-408A-9B2A-E1F72AF71EA4}"/>
            </c:ext>
          </c:extLst>
        </c:ser>
        <c:ser>
          <c:idx val="1"/>
          <c:order val="1"/>
          <c:tx>
            <c:strRef>
              <c:f>Monitoring_Data_Percentages!$C$1</c:f>
              <c:strCache>
                <c:ptCount val="1"/>
                <c:pt idx="0">
                  <c:v>Performer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Monitoring_Data_Percentages!$A$2:$A$9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Monitoring_Data_Percentages!$C$2:$C$9</c:f>
              <c:numCache>
                <c:formatCode>0%</c:formatCode>
                <c:ptCount val="8"/>
                <c:pt idx="0">
                  <c:v>0.31</c:v>
                </c:pt>
                <c:pt idx="1">
                  <c:v>0.12</c:v>
                </c:pt>
                <c:pt idx="2">
                  <c:v>0.01</c:v>
                </c:pt>
                <c:pt idx="3">
                  <c:v>0.54</c:v>
                </c:pt>
                <c:pt idx="4">
                  <c:v>0.74</c:v>
                </c:pt>
                <c:pt idx="5">
                  <c:v>0.03</c:v>
                </c:pt>
                <c:pt idx="6">
                  <c:v>0</c:v>
                </c:pt>
                <c:pt idx="7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AD-408A-9B2A-E1F72AF71EA4}"/>
            </c:ext>
          </c:extLst>
        </c:ser>
        <c:ser>
          <c:idx val="2"/>
          <c:order val="2"/>
          <c:tx>
            <c:strRef>
              <c:f>Monitoring_Data_Percentages!$D$1</c:f>
              <c:strCache>
                <c:ptCount val="1"/>
                <c:pt idx="0">
                  <c:v>Front Runner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Monitoring_Data_Percentages!$A$2:$A$9</c:f>
              <c:strCache>
                <c:ptCount val="8"/>
                <c:pt idx="0">
                  <c:v>Observation- Classroom Setup</c:v>
                </c:pt>
                <c:pt idx="1">
                  <c:v>Observation- Center Management</c:v>
                </c:pt>
                <c:pt idx="2">
                  <c:v>Observation- Beneficiary Related /Learner's Kit</c:v>
                </c:pt>
                <c:pt idx="3">
                  <c:v>Learner's Attendance</c:v>
                </c:pt>
                <c:pt idx="4">
                  <c:v>Learner's Assessment</c:v>
                </c:pt>
                <c:pt idx="5">
                  <c:v>Content Running Status</c:v>
                </c:pt>
                <c:pt idx="6">
                  <c:v>Center operating days</c:v>
                </c:pt>
                <c:pt idx="7">
                  <c:v>Retention of LOs</c:v>
                </c:pt>
              </c:strCache>
            </c:strRef>
          </c:cat>
          <c:val>
            <c:numRef>
              <c:f>Monitoring_Data_Percentages!$D$2:$D$9</c:f>
              <c:numCache>
                <c:formatCode>0%</c:formatCode>
                <c:ptCount val="8"/>
                <c:pt idx="0">
                  <c:v>0.6</c:v>
                </c:pt>
                <c:pt idx="1">
                  <c:v>0.87</c:v>
                </c:pt>
                <c:pt idx="2">
                  <c:v>0.99</c:v>
                </c:pt>
                <c:pt idx="3">
                  <c:v>0.46</c:v>
                </c:pt>
                <c:pt idx="4">
                  <c:v>0.26</c:v>
                </c:pt>
                <c:pt idx="5">
                  <c:v>0.96</c:v>
                </c:pt>
                <c:pt idx="6">
                  <c:v>0.99</c:v>
                </c:pt>
                <c:pt idx="7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AD-408A-9B2A-E1F72AF71E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23808272"/>
        <c:axId val="923812112"/>
      </c:barChart>
      <c:catAx>
        <c:axId val="923808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3812112"/>
        <c:crosses val="autoZero"/>
        <c:auto val="1"/>
        <c:lblAlgn val="ctr"/>
        <c:lblOffset val="100"/>
        <c:noMultiLvlLbl val="0"/>
      </c:catAx>
      <c:valAx>
        <c:axId val="923812112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380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5">
        <a:lumMod val="40000"/>
        <a:lumOff val="6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83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24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2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6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2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0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6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41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1277-69F8-8BED-ABD5-E1A55DA94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6C093-1381-DCC7-AB06-7F0CF3C1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3C45C-4DF1-1C4F-8EDB-2CA3B150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1D22F-09CD-A345-4328-7BA7DC91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5107-4181-4B68-04C4-0F6B7C88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70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F4D2-466E-3656-8687-0805CD4F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F35BE-8DBE-F741-3BF7-4183A2B3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371E4-6C0C-8E43-0DED-6F5B676A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DB607-77F7-F7ED-5BA1-DDECCB3D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C3755-42EE-F7E8-826B-11A6FF26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61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A900-CC58-1D0C-0555-244AEC2C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BDE4-E626-5E7F-DE0D-5BA871E7D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46AD-3236-CE81-F680-44E852D5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298-0C8A-7ED4-B855-A24300E8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9B7BD-96EC-E0B8-09DC-7F6491EB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08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9DC2-099F-F23E-51DE-B508CCB5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B667-39E6-9F8B-C206-5A129A386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A132E-18BF-610B-1917-420B988C1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E79F3-362B-EABC-F7D6-1A327F8A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BDBDF-6E3F-53A8-77F1-3B2BB928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29E62-8A4A-4854-64D4-D48C5EBF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16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F5D1-0890-E401-C044-AEDAF606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9F973-E657-49E2-4736-3DEC7D29A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0235D-FE39-5E8A-323D-FE509C1B8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B6982-4BF2-F8B9-501B-BB6B9795D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C953D-05D4-9405-3052-A38C5D501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D1AF7-89DF-9DF8-C91B-31AC27D1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399A1-2395-8BE4-36E3-D92E977A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DD78E-0E5B-CF57-71BE-B0421D55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3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6713-16E6-6A8F-169A-D798AA6E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3842A-DB73-E799-0D49-56DFFED2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AB996-D221-61A4-EE12-3710B0B9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B3D6E-2D93-6AE5-F2C6-CEC398AD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03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ED163-C0D7-FE93-1987-A75967EC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D76E2-E492-AD08-F786-FE31FC95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F4B34-6354-0A1E-9DD8-C335436F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05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104C-40EF-4AAE-AF40-99F167BC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7EC5-451D-0A43-F7B8-110C29B3A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D7D0B-6536-1BA3-672C-E2601CD35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0E8D1-6674-EBC8-FA44-FFC15566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7A46F-388B-118B-07A8-F122801D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4DDFE-DE5A-F841-91E5-0A50EA43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4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D9B8-BB00-11AD-2BD9-DE403F80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84607-20EA-7E2D-72A4-AF3D604B9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A74BE-E3FE-EF25-A535-69E3525BA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43014-A24C-D455-5FCC-769552B0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4610D-25EA-471B-8AE9-A6F32910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282FF-594D-F401-46B7-DA8F008B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839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C902-07DF-B855-874F-9F5314F2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54A02-7DCB-C2B3-797C-C0D84F1E7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EF287-32CC-83D9-EFBB-8CBAB97E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7095-DD03-1C65-B13F-A2FB47E2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945A-B174-C736-F452-AD7B74BD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63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F70E2-E04D-1391-1342-8673FA39D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B475B-C3EA-328A-B776-6FC07F50E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1BC34-F98E-F106-C309-80018439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D6145-AF27-1593-5B50-92A0E175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371BC-AE50-851D-3A23-76588E49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31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815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30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170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850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874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8999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2082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937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14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8846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2944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274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3775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0473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7006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9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62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B148C-31F1-1511-5B6C-4116006F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0DE6B-7C81-9448-5DA3-D3129014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CF4A-3B6B-9D90-F56A-D25D0C8A7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D54D-8473-B7D6-2D97-D19426BBE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10D79-3C19-B8E3-9B5D-FBFD13B01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0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296CD16-063F-47C4-8471-C2C799B0F24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DF8C6C-7586-43E5-A8B5-6585350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581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E41C35-DC39-2D01-CC0F-AAB7E2729D27}"/>
              </a:ext>
            </a:extLst>
          </p:cNvPr>
          <p:cNvSpPr txBox="1"/>
          <p:nvPr/>
        </p:nvSpPr>
        <p:spPr>
          <a:xfrm>
            <a:off x="660399" y="84667"/>
            <a:ext cx="11243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Categorization of Batches among Aspirants , Performer and Front Runner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D4BB-D8E4-7C04-C23D-7CCA7DBACB4F}"/>
              </a:ext>
            </a:extLst>
          </p:cNvPr>
          <p:cNvSpPr txBox="1"/>
          <p:nvPr/>
        </p:nvSpPr>
        <p:spPr>
          <a:xfrm>
            <a:off x="660399" y="1007533"/>
            <a:ext cx="2937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Monitoring Parameters 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5963B-9E49-7694-06ED-714AB4E4B6AE}"/>
              </a:ext>
            </a:extLst>
          </p:cNvPr>
          <p:cNvSpPr txBox="1"/>
          <p:nvPr/>
        </p:nvSpPr>
        <p:spPr>
          <a:xfrm>
            <a:off x="1092200" y="1490133"/>
            <a:ext cx="325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Observation- Classroom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4C440-1E75-902C-2C7F-F51576F26007}"/>
              </a:ext>
            </a:extLst>
          </p:cNvPr>
          <p:cNvSpPr txBox="1"/>
          <p:nvPr/>
        </p:nvSpPr>
        <p:spPr>
          <a:xfrm>
            <a:off x="965199" y="1967355"/>
            <a:ext cx="395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2. Observation- Center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BEC7D-4871-45C9-B2ED-34C72CD28580}"/>
              </a:ext>
            </a:extLst>
          </p:cNvPr>
          <p:cNvSpPr txBox="1"/>
          <p:nvPr/>
        </p:nvSpPr>
        <p:spPr>
          <a:xfrm>
            <a:off x="1032933" y="2444577"/>
            <a:ext cx="490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Observation- Beneficiary Related /Learner's Kit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856F3-98C5-1610-6D2B-E237D6CDB30C}"/>
              </a:ext>
            </a:extLst>
          </p:cNvPr>
          <p:cNvSpPr txBox="1"/>
          <p:nvPr/>
        </p:nvSpPr>
        <p:spPr>
          <a:xfrm>
            <a:off x="1032933" y="2921799"/>
            <a:ext cx="325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Learner's Attendance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A68B5-AEE3-34F7-CE53-421EB79751CD}"/>
              </a:ext>
            </a:extLst>
          </p:cNvPr>
          <p:cNvSpPr txBox="1"/>
          <p:nvPr/>
        </p:nvSpPr>
        <p:spPr>
          <a:xfrm>
            <a:off x="1032933" y="33990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Learner's Assessment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BE41B-442D-3FA3-9F6F-F37179B5E539}"/>
              </a:ext>
            </a:extLst>
          </p:cNvPr>
          <p:cNvSpPr txBox="1"/>
          <p:nvPr/>
        </p:nvSpPr>
        <p:spPr>
          <a:xfrm>
            <a:off x="1032933" y="38762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6. Content Running Status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19BA27-93D9-9BDE-A244-441F738E7FA1}"/>
              </a:ext>
            </a:extLst>
          </p:cNvPr>
          <p:cNvSpPr txBox="1"/>
          <p:nvPr/>
        </p:nvSpPr>
        <p:spPr>
          <a:xfrm>
            <a:off x="1032933" y="43534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7. Center operating days</a:t>
            </a:r>
            <a:r>
              <a:rPr lang="en-US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CD00A-F751-6A84-3A11-99B8A3CD3E8E}"/>
              </a:ext>
            </a:extLst>
          </p:cNvPr>
          <p:cNvSpPr txBox="1"/>
          <p:nvPr/>
        </p:nvSpPr>
        <p:spPr>
          <a:xfrm>
            <a:off x="965199" y="4830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8. Retention of LOs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2867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4B35EA0-0DB1-3B17-5CDA-11C294F257BD}"/>
              </a:ext>
            </a:extLst>
          </p:cNvPr>
          <p:cNvGrpSpPr/>
          <p:nvPr/>
        </p:nvGrpSpPr>
        <p:grpSpPr>
          <a:xfrm>
            <a:off x="249766" y="177800"/>
            <a:ext cx="11692467" cy="6502400"/>
            <a:chOff x="0" y="0"/>
            <a:chExt cx="14043660" cy="57988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4A9F1D-D3D1-D67B-FC31-06223C1ACC7A}"/>
                </a:ext>
              </a:extLst>
            </p:cNvPr>
            <p:cNvSpPr/>
            <p:nvPr/>
          </p:nvSpPr>
          <p:spPr>
            <a:xfrm>
              <a:off x="0" y="0"/>
              <a:ext cx="14043660" cy="579882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 dirty="0"/>
            </a:p>
          </p:txBody>
        </p:sp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83B8F416-D074-45E7-8F32-8D41D06299B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10889963"/>
                </p:ext>
              </p:extLst>
            </p:nvPr>
          </p:nvGraphicFramePr>
          <p:xfrm>
            <a:off x="304800" y="53340"/>
            <a:ext cx="13456920" cy="3002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49112C0E-2DF4-4266-B1F4-CA3E6436A32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58319085"/>
                </p:ext>
              </p:extLst>
            </p:nvPr>
          </p:nvGraphicFramePr>
          <p:xfrm>
            <a:off x="312419" y="3055620"/>
            <a:ext cx="13449300" cy="26441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55000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520F92-A64C-0D70-0BA1-83113A800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848321"/>
              </p:ext>
            </p:extLst>
          </p:nvPr>
        </p:nvGraphicFramePr>
        <p:xfrm>
          <a:off x="2336801" y="1604432"/>
          <a:ext cx="6553199" cy="3839637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218963">
                  <a:extLst>
                    <a:ext uri="{9D8B030D-6E8A-4147-A177-3AD203B41FA5}">
                      <a16:colId xmlns:a16="http://schemas.microsoft.com/office/drawing/2014/main" val="1257902531"/>
                    </a:ext>
                  </a:extLst>
                </a:gridCol>
                <a:gridCol w="2136011">
                  <a:extLst>
                    <a:ext uri="{9D8B030D-6E8A-4147-A177-3AD203B41FA5}">
                      <a16:colId xmlns:a16="http://schemas.microsoft.com/office/drawing/2014/main" val="1457874560"/>
                    </a:ext>
                  </a:extLst>
                </a:gridCol>
                <a:gridCol w="2198225">
                  <a:extLst>
                    <a:ext uri="{9D8B030D-6E8A-4147-A177-3AD203B41FA5}">
                      <a16:colId xmlns:a16="http://schemas.microsoft.com/office/drawing/2014/main" val="2907985833"/>
                    </a:ext>
                  </a:extLst>
                </a:gridCol>
              </a:tblGrid>
              <a:tr h="2086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Category 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Marks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9291384"/>
                  </a:ext>
                </a:extLst>
              </a:tr>
              <a:tr h="4382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63624466"/>
                  </a:ext>
                </a:extLst>
              </a:tr>
              <a:tr h="4382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Aspirants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Less than 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Less than 70%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616543"/>
                  </a:ext>
                </a:extLst>
              </a:tr>
              <a:tr h="4382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Performer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&gt;=4 and &lt;8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&gt;=70% and &lt;80%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7422996"/>
                  </a:ext>
                </a:extLst>
              </a:tr>
              <a:tr h="4382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Front Runner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&gt;=8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&gt;=80%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48794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A414A7-E336-E337-6489-B11A3621FFA2}"/>
              </a:ext>
            </a:extLst>
          </p:cNvPr>
          <p:cNvSpPr txBox="1"/>
          <p:nvPr/>
        </p:nvSpPr>
        <p:spPr>
          <a:xfrm>
            <a:off x="1718734" y="358912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Batch Categorization Logic</a:t>
            </a:r>
          </a:p>
        </p:txBody>
      </p:sp>
    </p:spTree>
    <p:extLst>
      <p:ext uri="{BB962C8B-B14F-4D97-AF65-F5344CB8AC3E}">
        <p14:creationId xmlns:p14="http://schemas.microsoft.com/office/powerpoint/2010/main" val="1941827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02EA11-AB50-F1E7-A6FF-632CBFEDF373}"/>
              </a:ext>
            </a:extLst>
          </p:cNvPr>
          <p:cNvSpPr txBox="1"/>
          <p:nvPr/>
        </p:nvSpPr>
        <p:spPr>
          <a:xfrm>
            <a:off x="59267" y="975268"/>
            <a:ext cx="4758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1. Observation- Classroom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83269-7E35-3061-AD78-480121FB4C40}"/>
              </a:ext>
            </a:extLst>
          </p:cNvPr>
          <p:cNvSpPr txBox="1"/>
          <p:nvPr/>
        </p:nvSpPr>
        <p:spPr>
          <a:xfrm>
            <a:off x="4580466" y="0"/>
            <a:ext cx="2785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5">
                    <a:lumMod val="75000"/>
                  </a:schemeClr>
                </a:solidFill>
              </a:rPr>
              <a:t>Division Logic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A71CD-6C85-AA9A-84DC-B02600B54D3A}"/>
              </a:ext>
            </a:extLst>
          </p:cNvPr>
          <p:cNvSpPr txBox="1"/>
          <p:nvPr/>
        </p:nvSpPr>
        <p:spPr>
          <a:xfrm>
            <a:off x="6454986" y="975268"/>
            <a:ext cx="3899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2. Observation- Center Management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57CEF9-7C56-F9E0-2EB7-14874F242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199575"/>
              </p:ext>
            </p:extLst>
          </p:nvPr>
        </p:nvGraphicFramePr>
        <p:xfrm>
          <a:off x="376283" y="1475228"/>
          <a:ext cx="3986711" cy="1547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6711">
                  <a:extLst>
                    <a:ext uri="{9D8B030D-6E8A-4147-A177-3AD203B41FA5}">
                      <a16:colId xmlns:a16="http://schemas.microsoft.com/office/drawing/2014/main" val="4131605904"/>
                    </a:ext>
                  </a:extLst>
                </a:gridCol>
              </a:tblGrid>
              <a:tr h="386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1.1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Are all the equipment functional during the visit?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5516431"/>
                  </a:ext>
                </a:extLst>
              </a:tr>
              <a:tr h="386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Are laptop and projector charged during the visits?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23310615"/>
                  </a:ext>
                </a:extLst>
              </a:tr>
              <a:tr h="386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 Is screen projection appropriate in the classroom?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3421344"/>
                  </a:ext>
                </a:extLst>
              </a:tr>
              <a:tr h="386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1.4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Is seating arrangement proper at the center?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4958712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3F001E-3840-CE3D-A19B-AAD31A1AA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778972"/>
              </p:ext>
            </p:extLst>
          </p:nvPr>
        </p:nvGraphicFramePr>
        <p:xfrm>
          <a:off x="6802362" y="1417748"/>
          <a:ext cx="4580708" cy="1706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80708">
                  <a:extLst>
                    <a:ext uri="{9D8B030D-6E8A-4147-A177-3AD203B41FA5}">
                      <a16:colId xmlns:a16="http://schemas.microsoft.com/office/drawing/2014/main" val="298484765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</a:t>
                      </a: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Is operational kit (Attendance, Assessment format, Teaching Plan </a:t>
                      </a:r>
                      <a:r>
                        <a:rPr lang="en-US" sz="1400" u="none" strike="noStrik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etc</a:t>
                      </a: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) available at the batch? (As per the requirement of today's class)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959163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Are all the documents updated along with the teaching plan?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79434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</a:t>
                      </a: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Is the volunteer able to replicate the training instruction provide while teaching at the batch?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20037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Is volunteer able to manage the class? 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14993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68F36C-A5BC-40AD-FB97-FF505D318D22}"/>
              </a:ext>
            </a:extLst>
          </p:cNvPr>
          <p:cNvSpPr txBox="1"/>
          <p:nvPr/>
        </p:nvSpPr>
        <p:spPr>
          <a:xfrm>
            <a:off x="59267" y="3904008"/>
            <a:ext cx="499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Observation- Beneficiary Related /Learner's Kit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DE6610-2BAA-4DA4-1352-052D106EF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259494"/>
              </p:ext>
            </p:extLst>
          </p:nvPr>
        </p:nvGraphicFramePr>
        <p:xfrm>
          <a:off x="4362994" y="1475228"/>
          <a:ext cx="1079500" cy="1547371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339981152"/>
                    </a:ext>
                  </a:extLst>
                </a:gridCol>
              </a:tblGrid>
              <a:tr h="4528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3994071"/>
                  </a:ext>
                </a:extLst>
              </a:tr>
              <a:tr h="3493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2686969"/>
                  </a:ext>
                </a:extLst>
              </a:tr>
              <a:tr h="3957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1463378"/>
                  </a:ext>
                </a:extLst>
              </a:tr>
              <a:tr h="3493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846388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F5E0A80-73F9-B103-6688-C26794FF6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27537"/>
              </p:ext>
            </p:extLst>
          </p:nvPr>
        </p:nvGraphicFramePr>
        <p:xfrm>
          <a:off x="11225530" y="1417747"/>
          <a:ext cx="854588" cy="1706879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854588">
                  <a:extLst>
                    <a:ext uri="{9D8B030D-6E8A-4147-A177-3AD203B41FA5}">
                      <a16:colId xmlns:a16="http://schemas.microsoft.com/office/drawing/2014/main" val="972566851"/>
                    </a:ext>
                  </a:extLst>
                </a:gridCol>
              </a:tblGrid>
              <a:tr h="7197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4374547"/>
                  </a:ext>
                </a:extLst>
              </a:tr>
              <a:tr h="24677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4535694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1660252"/>
                  </a:ext>
                </a:extLst>
              </a:tr>
              <a:tr h="24677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15284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1684879-D751-3C81-9DA7-85EB36DEE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94628"/>
              </p:ext>
            </p:extLst>
          </p:nvPr>
        </p:nvGraphicFramePr>
        <p:xfrm>
          <a:off x="413838" y="4350805"/>
          <a:ext cx="39116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1600">
                  <a:extLst>
                    <a:ext uri="{9D8B030D-6E8A-4147-A177-3AD203B41FA5}">
                      <a16:colId xmlns:a16="http://schemas.microsoft.com/office/drawing/2014/main" val="1479743875"/>
                    </a:ext>
                  </a:extLst>
                </a:gridCol>
              </a:tblGrid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3.1.1 SHIKSHA Plus Text Book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84755591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3.1.2 Note Book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52439634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3.1.3 Pencil</a:t>
                      </a:r>
                      <a:endParaRPr lang="en-US" sz="1400" b="0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64068584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3.1.4.Eraser</a:t>
                      </a:r>
                      <a:endParaRPr lang="en-US" sz="1400" b="0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136454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3.1.5 Sharpner</a:t>
                      </a:r>
                      <a:endParaRPr lang="en-US" sz="1400" b="0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8585023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3.1.6 Slate</a:t>
                      </a:r>
                      <a:endParaRPr lang="en-US" sz="1400" b="0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03135214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3.1.7 Chalk</a:t>
                      </a:r>
                      <a:endParaRPr lang="en-US" sz="1400" b="0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9328334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3.1.8 Workbook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60116655"/>
                  </a:ext>
                </a:extLst>
              </a:tr>
              <a:tr h="211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3.1.9 </a:t>
                      </a:r>
                      <a:r>
                        <a:rPr lang="en-US" sz="1400" u="none" strike="noStrik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Jutebag</a:t>
                      </a:r>
                      <a:endParaRPr lang="en-US" sz="14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920870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BFCA781-69A3-6189-68E8-49DE983A5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288187"/>
              </p:ext>
            </p:extLst>
          </p:nvPr>
        </p:nvGraphicFramePr>
        <p:xfrm>
          <a:off x="4325438" y="4350806"/>
          <a:ext cx="1079500" cy="19202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99075556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398082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80488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64564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27723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78718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6692874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409298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982153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75698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D63CFA0-0AA3-43FA-4E65-B114602C15F3}"/>
              </a:ext>
            </a:extLst>
          </p:cNvPr>
          <p:cNvSpPr txBox="1"/>
          <p:nvPr/>
        </p:nvSpPr>
        <p:spPr>
          <a:xfrm>
            <a:off x="6454986" y="3904008"/>
            <a:ext cx="3259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4. Learner's Attendance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FC0E54-1450-B149-AFA6-F86633591DBE}"/>
              </a:ext>
            </a:extLst>
          </p:cNvPr>
          <p:cNvSpPr txBox="1"/>
          <p:nvPr/>
        </p:nvSpPr>
        <p:spPr>
          <a:xfrm>
            <a:off x="8820997" y="5882732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Note :- Total marks - 12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FD8A4E8-6357-EA47-EE54-78008DC56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86632"/>
              </p:ext>
            </p:extLst>
          </p:nvPr>
        </p:nvGraphicFramePr>
        <p:xfrm>
          <a:off x="6802362" y="4317364"/>
          <a:ext cx="4423168" cy="940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3168">
                  <a:extLst>
                    <a:ext uri="{9D8B030D-6E8A-4147-A177-3AD203B41FA5}">
                      <a16:colId xmlns:a16="http://schemas.microsoft.com/office/drawing/2014/main" val="1415926995"/>
                    </a:ext>
                  </a:extLst>
                </a:gridCol>
              </a:tblGrid>
              <a:tr h="3134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attendance Less Than 70%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26152638"/>
                  </a:ext>
                </a:extLst>
              </a:tr>
              <a:tr h="3134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attendance &gt;= 70% and &lt;80%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59724997"/>
                  </a:ext>
                </a:extLst>
              </a:tr>
              <a:tr h="3134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attendance greater Than 80%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3844494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A6161889-C224-4FEB-F385-6315B1FF9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98995"/>
              </p:ext>
            </p:extLst>
          </p:nvPr>
        </p:nvGraphicFramePr>
        <p:xfrm>
          <a:off x="11225529" y="4317364"/>
          <a:ext cx="854588" cy="94043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854588">
                  <a:extLst>
                    <a:ext uri="{9D8B030D-6E8A-4147-A177-3AD203B41FA5}">
                      <a16:colId xmlns:a16="http://schemas.microsoft.com/office/drawing/2014/main" val="155138926"/>
                    </a:ext>
                  </a:extLst>
                </a:gridCol>
              </a:tblGrid>
              <a:tr h="31347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4618902"/>
                  </a:ext>
                </a:extLst>
              </a:tr>
              <a:tr h="31347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81069704"/>
                  </a:ext>
                </a:extLst>
              </a:tr>
              <a:tr h="31347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0617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1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364296-1DFE-95C0-1938-F43C56AE4CC1}"/>
              </a:ext>
            </a:extLst>
          </p:cNvPr>
          <p:cNvSpPr txBox="1"/>
          <p:nvPr/>
        </p:nvSpPr>
        <p:spPr>
          <a:xfrm>
            <a:off x="3422650" y="181396"/>
            <a:ext cx="534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3600" dirty="0"/>
              <a:t>6. Content Running Status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150AE-C579-6344-DB2F-E7B2446104F5}"/>
              </a:ext>
            </a:extLst>
          </p:cNvPr>
          <p:cNvSpPr txBox="1"/>
          <p:nvPr/>
        </p:nvSpPr>
        <p:spPr>
          <a:xfrm>
            <a:off x="-338667" y="1984993"/>
            <a:ext cx="523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🟥 </a:t>
            </a:r>
            <a:r>
              <a:rPr lang="en-US" sz="1200" b="1" dirty="0"/>
              <a:t>Aspirant</a:t>
            </a:r>
          </a:p>
          <a:p>
            <a:pPr algn="ctr"/>
            <a:br>
              <a:rPr lang="en-US" sz="1200" dirty="0"/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2 - Content delivery through CMS is less than 11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3 - Content delivery through CMS is less than 12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4 - Content delivery through CMS is less than 11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5 - Content delivery through CMS is less than 12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6 - Content delivery through CMS is less than 9 days.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AE651-7E42-D224-B5AA-2723BE619950}"/>
              </a:ext>
            </a:extLst>
          </p:cNvPr>
          <p:cNvSpPr txBox="1"/>
          <p:nvPr/>
        </p:nvSpPr>
        <p:spPr>
          <a:xfrm>
            <a:off x="3674534" y="4395968"/>
            <a:ext cx="45804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🟨 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Performer</a:t>
            </a:r>
          </a:p>
          <a:p>
            <a:pPr algn="ctr"/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2 - Content delivery through CMS is Minimum 11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3 - Content delivery through CMS is Minimum 10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4 - Content delivery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through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 CMS is Minimum 11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5 - Content delivery through CMS is Minimum 12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6 - Content delivery through CMS is Minimum 9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E9402-8C25-1877-E159-063C2C78450F}"/>
              </a:ext>
            </a:extLst>
          </p:cNvPr>
          <p:cNvSpPr txBox="1"/>
          <p:nvPr/>
        </p:nvSpPr>
        <p:spPr>
          <a:xfrm>
            <a:off x="7442199" y="1949230"/>
            <a:ext cx="43978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🟩 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 runner</a:t>
            </a:r>
          </a:p>
          <a:p>
            <a:pPr algn="ctr"/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2 - Content delivery through CMS is Minimum 14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3 - Content delivery through CMS is Minimum 15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4 - Content delivery through CMS is Minimum 14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5 - Content delivery through CMS is Minimum 15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 Ass. Cycle 6 - Content delivery through CMS is Minimum 12 days.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</a:rPr>
            </a:b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53DCB7-9CF4-5AA0-1C15-D5E0EC4C3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98" y="1552939"/>
            <a:ext cx="2258804" cy="240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9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8C8050-C8AD-8CDA-F01B-56C7E676106E}"/>
              </a:ext>
            </a:extLst>
          </p:cNvPr>
          <p:cNvSpPr>
            <a:spLocks noGrp="1"/>
          </p:cNvSpPr>
          <p:nvPr/>
        </p:nvSpPr>
        <p:spPr>
          <a:xfrm>
            <a:off x="2802466" y="93133"/>
            <a:ext cx="5799667" cy="749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u="sng" dirty="0">
                <a:solidFill>
                  <a:schemeClr val="accent2">
                    <a:lumMod val="75000"/>
                  </a:schemeClr>
                </a:solidFill>
              </a:rPr>
              <a:t>5. Centre operating 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1658F-3365-C8A9-9EE1-9151475E3521}"/>
              </a:ext>
            </a:extLst>
          </p:cNvPr>
          <p:cNvSpPr txBox="1"/>
          <p:nvPr/>
        </p:nvSpPr>
        <p:spPr>
          <a:xfrm>
            <a:off x="338666" y="1532466"/>
            <a:ext cx="318346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🟥 </a:t>
            </a:r>
            <a:r>
              <a:rPr lang="en-US" sz="2000" b="1" dirty="0"/>
              <a:t>Aspirant</a:t>
            </a:r>
          </a:p>
          <a:p>
            <a:pPr algn="ctr"/>
            <a:br>
              <a:rPr lang="en-US" dirty="0"/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2 - ≤ 22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3 - ≤ 27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4 - ≤ 25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5 - ≤ 27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6 - ≤ 22 days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DFE5D-8BEE-0564-3393-733FF01322BA}"/>
              </a:ext>
            </a:extLst>
          </p:cNvPr>
          <p:cNvSpPr txBox="1"/>
          <p:nvPr/>
        </p:nvSpPr>
        <p:spPr>
          <a:xfrm>
            <a:off x="4292599" y="4191000"/>
            <a:ext cx="30480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🟨 </a:t>
            </a:r>
            <a:r>
              <a:rPr lang="en-US" sz="2000" b="1" dirty="0"/>
              <a:t>Performer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2 - 20-21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3 - 24-26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4 - 23-24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5 - 24-26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6 - 20-21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8922C8-FA56-779E-AE66-3305724675EC}"/>
              </a:ext>
            </a:extLst>
          </p:cNvPr>
          <p:cNvSpPr txBox="1"/>
          <p:nvPr/>
        </p:nvSpPr>
        <p:spPr>
          <a:xfrm>
            <a:off x="8458200" y="1532465"/>
            <a:ext cx="31242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🟩 </a:t>
            </a:r>
            <a:r>
              <a:rPr lang="en-US" sz="2000" b="1" dirty="0"/>
              <a:t>Front runner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2 - 17-19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3 - 21-23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4 - 22-23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5 - 22-23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 Ass. Cycle 6 - 17-19 days.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FA9C5-938A-E079-256F-826D4D39E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698" y="1400539"/>
            <a:ext cx="2258804" cy="240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1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33612B-361E-4821-6E14-06D47BDFB140}"/>
              </a:ext>
            </a:extLst>
          </p:cNvPr>
          <p:cNvSpPr txBox="1"/>
          <p:nvPr/>
        </p:nvSpPr>
        <p:spPr>
          <a:xfrm>
            <a:off x="4580466" y="0"/>
            <a:ext cx="2785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5">
                    <a:lumMod val="75000"/>
                  </a:schemeClr>
                </a:solidFill>
              </a:rPr>
              <a:t>Division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8ACED-6A20-2918-C88B-BB5F5AEA72CF}"/>
              </a:ext>
            </a:extLst>
          </p:cNvPr>
          <p:cNvSpPr txBox="1"/>
          <p:nvPr/>
        </p:nvSpPr>
        <p:spPr>
          <a:xfrm>
            <a:off x="880536" y="2210655"/>
            <a:ext cx="4199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7. Learner's Assessment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6E8AEF-F5B4-165E-2D56-1FEE12037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062206"/>
              </p:ext>
            </p:extLst>
          </p:nvPr>
        </p:nvGraphicFramePr>
        <p:xfrm>
          <a:off x="486833" y="3024981"/>
          <a:ext cx="4347634" cy="80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7634">
                  <a:extLst>
                    <a:ext uri="{9D8B030D-6E8A-4147-A177-3AD203B41FA5}">
                      <a16:colId xmlns:a16="http://schemas.microsoft.com/office/drawing/2014/main" val="2851144513"/>
                    </a:ext>
                  </a:extLst>
                </a:gridCol>
              </a:tblGrid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assessment score Less Than 70%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00043691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assessment score   &gt;= 70% and &lt;80%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32059153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4.1 Learners average assessment score greater Than 80%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192758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5B3051-CF5C-B868-338E-1ECBB8CE3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90257"/>
              </p:ext>
            </p:extLst>
          </p:nvPr>
        </p:nvGraphicFramePr>
        <p:xfrm>
          <a:off x="4834467" y="3029743"/>
          <a:ext cx="491066" cy="80803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91066">
                  <a:extLst>
                    <a:ext uri="{9D8B030D-6E8A-4147-A177-3AD203B41FA5}">
                      <a16:colId xmlns:a16="http://schemas.microsoft.com/office/drawing/2014/main" val="1561103313"/>
                    </a:ext>
                  </a:extLst>
                </a:gridCol>
              </a:tblGrid>
              <a:tr h="26934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1719399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45379594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64482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0F970A-9929-357B-7EF7-60AD3FCBFC3F}"/>
              </a:ext>
            </a:extLst>
          </p:cNvPr>
          <p:cNvSpPr txBox="1"/>
          <p:nvPr/>
        </p:nvSpPr>
        <p:spPr>
          <a:xfrm>
            <a:off x="7366000" y="2210655"/>
            <a:ext cx="3191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8. Retention of LOs</a:t>
            </a:r>
            <a:r>
              <a:rPr lang="en-US" sz="2800" b="1" dirty="0"/>
              <a:t>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5A34D7-43CC-588D-CC9D-04D8E7295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00300"/>
              </p:ext>
            </p:extLst>
          </p:nvPr>
        </p:nvGraphicFramePr>
        <p:xfrm>
          <a:off x="7730067" y="3024980"/>
          <a:ext cx="2904067" cy="80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4067">
                  <a:extLst>
                    <a:ext uri="{9D8B030D-6E8A-4147-A177-3AD203B41FA5}">
                      <a16:colId xmlns:a16="http://schemas.microsoft.com/office/drawing/2014/main" val="1436972203"/>
                    </a:ext>
                  </a:extLst>
                </a:gridCol>
              </a:tblGrid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8.1.1 Reading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9239107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8.1.2 Writing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05836028"/>
                  </a:ext>
                </a:extLst>
              </a:tr>
              <a:tr h="269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8.1.3 Arithmetic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9932167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1BDE96-5267-E787-AF15-F2DBD82C4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67913"/>
              </p:ext>
            </p:extLst>
          </p:nvPr>
        </p:nvGraphicFramePr>
        <p:xfrm>
          <a:off x="10634134" y="3024982"/>
          <a:ext cx="791634" cy="82961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791634">
                  <a:extLst>
                    <a:ext uri="{9D8B030D-6E8A-4147-A177-3AD203B41FA5}">
                      <a16:colId xmlns:a16="http://schemas.microsoft.com/office/drawing/2014/main" val="421936570"/>
                    </a:ext>
                  </a:extLst>
                </a:gridCol>
              </a:tblGrid>
              <a:tr h="1917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9169966"/>
                  </a:ext>
                </a:extLst>
              </a:tr>
              <a:tr h="3081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5018836"/>
                  </a:ext>
                </a:extLst>
              </a:tr>
              <a:tr h="3081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9010813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A14369-3984-19BE-9D1B-2187865F048E}"/>
              </a:ext>
            </a:extLst>
          </p:cNvPr>
          <p:cNvCxnSpPr/>
          <p:nvPr/>
        </p:nvCxnSpPr>
        <p:spPr>
          <a:xfrm>
            <a:off x="6239933" y="778933"/>
            <a:ext cx="0" cy="5469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08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B240A-D3F3-5447-12C7-03B8F3B67369}"/>
              </a:ext>
            </a:extLst>
          </p:cNvPr>
          <p:cNvSpPr txBox="1"/>
          <p:nvPr/>
        </p:nvSpPr>
        <p:spPr>
          <a:xfrm>
            <a:off x="3683000" y="1456266"/>
            <a:ext cx="45042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THANK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5B386-D641-993E-D916-4C6883C21259}"/>
              </a:ext>
            </a:extLst>
          </p:cNvPr>
          <p:cNvSpPr txBox="1"/>
          <p:nvPr/>
        </p:nvSpPr>
        <p:spPr>
          <a:xfrm>
            <a:off x="4694766" y="3429000"/>
            <a:ext cx="28024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43633488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rganic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Override1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793</TotalTime>
  <Words>781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Calibri Light</vt:lpstr>
      <vt:lpstr>Garamond</vt:lpstr>
      <vt:lpstr>Retrospect</vt:lpstr>
      <vt:lpstr>Office Theme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sharma</dc:creator>
  <cp:lastModifiedBy>ashutosh sharma</cp:lastModifiedBy>
  <cp:revision>10</cp:revision>
  <dcterms:created xsi:type="dcterms:W3CDTF">2025-09-01T04:05:05Z</dcterms:created>
  <dcterms:modified xsi:type="dcterms:W3CDTF">2025-09-30T11:23:26Z</dcterms:modified>
</cp:coreProperties>
</file>